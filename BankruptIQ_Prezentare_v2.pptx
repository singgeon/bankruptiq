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" y="0"/>
            <a:ext cx="45720" cy="68580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" y="0"/>
            <a:ext cx="45720" cy="68580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0"/>
            <a:ext cx="45720" cy="68580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0"/>
            <a:ext cx="45720" cy="68580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0"/>
            <a:ext cx="45720" cy="68580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48640"/>
            <a:ext cx="11247120" cy="7315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731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92A4"/>
                </a:solidFill>
              </a:rPr>
              <a:t>LUCRARE DE PROIECT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4F8EF7"/>
                </a:solidFill>
              </a:rPr>
              <a:t>BankruptIQ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2E8F0"/>
                </a:solidFill>
              </a:rPr>
              <a:t>Sistem Inteligent de Predicție a Riscului de Faliment
al Întreprinderilor din România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3401568"/>
            <a:ext cx="3931920" cy="36576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92A4"/>
                </a:solidFill>
              </a:rPr>
              <a:t>Analiză bazată pe Machine Learning · Date oficiale Ministerul Finanțelor · 80.000+ companii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4160520"/>
            <a:ext cx="1417320" cy="384048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416052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Python 3.12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4160520"/>
            <a:ext cx="1417320" cy="384048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416052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FastAPI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4160520"/>
            <a:ext cx="1417320" cy="384048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416052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MongoDB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4160520"/>
            <a:ext cx="1417320" cy="384048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16052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RandomForest ML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0" y="4160520"/>
            <a:ext cx="1417320" cy="384048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0" y="416052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React + Plotly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4160520"/>
            <a:ext cx="1417320" cy="384048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416052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data.gov.ro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54880"/>
            <a:ext cx="11247120" cy="22860"/>
          </a:xfrm>
          <a:prstGeom prst="rect">
            <a:avLst/>
          </a:prstGeom>
          <a:solidFill>
            <a:srgbClr val="2E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</a:rPr>
              <a:t>Proiect realizat cu date financiare reale din România (2017–2023)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3492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92A4"/>
                </a:solidFill>
              </a:rPr>
              <a:t>Sistem functional · May 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5852160"/>
            <a:ext cx="2103120" cy="804672"/>
          </a:xfrm>
          <a:prstGeom prst="rect">
            <a:avLst/>
          </a:prstGeom>
          <a:solidFill>
            <a:srgbClr val="1A1D27"/>
          </a:solidFill>
          <a:ln w="1524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588873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F8EF7"/>
                </a:solidFill>
              </a:rPr>
              <a:t>80.000+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629107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A4"/>
                </a:solidFill>
              </a:rPr>
              <a:t>Companii analizate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40" y="5852160"/>
            <a:ext cx="2103120" cy="804672"/>
          </a:xfrm>
          <a:prstGeom prst="rect">
            <a:avLst/>
          </a:prstGeom>
          <a:solidFill>
            <a:srgbClr val="1A1D27"/>
          </a:solidFill>
          <a:ln w="1524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588873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F8EF7"/>
                </a:solidFill>
              </a:rPr>
              <a:t>88%+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0" y="629107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A4"/>
                </a:solidFill>
              </a:rPr>
              <a:t>Acuratețe model ML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5852160"/>
            <a:ext cx="2103120" cy="804672"/>
          </a:xfrm>
          <a:prstGeom prst="rect">
            <a:avLst/>
          </a:prstGeom>
          <a:solidFill>
            <a:srgbClr val="1A1D27"/>
          </a:solidFill>
          <a:ln w="1524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588873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F8EF7"/>
                </a:solidFill>
              </a:rPr>
              <a:t>6 ani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629107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A4"/>
                </a:solidFill>
              </a:rPr>
              <a:t>Date istorice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852160"/>
            <a:ext cx="2103120" cy="804672"/>
          </a:xfrm>
          <a:prstGeom prst="rect">
            <a:avLst/>
          </a:prstGeom>
          <a:solidFill>
            <a:srgbClr val="1A1D27"/>
          </a:solidFill>
          <a:ln w="1524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0" y="588873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F8EF7"/>
                </a:solidFill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629107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A4"/>
                </a:solidFill>
              </a:rPr>
              <a:t>Indicatori financiari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Cuprins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8EF7"/>
                </a:solidFill>
              </a:rPr>
              <a:t>Index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2E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5669280" cy="960120"/>
          </a:xfrm>
          <a:prstGeom prst="rect">
            <a:avLst/>
          </a:prstGeom>
          <a:solidFill>
            <a:srgbClr val="1A1D27"/>
          </a:solidFill>
          <a:ln w="1524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356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8EF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399032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Contextul și Motivația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7452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De ce este necesară această aplicație?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86584"/>
            <a:ext cx="5669280" cy="960120"/>
          </a:xfrm>
          <a:prstGeom prst="rect">
            <a:avLst/>
          </a:prstGeom>
          <a:solidFill>
            <a:srgbClr val="1A1D2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963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C55E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59736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Obiective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3522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Ce ne-am propus să rezolvăm?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47288"/>
            <a:ext cx="5669280" cy="960120"/>
          </a:xfrm>
          <a:prstGeom prst="rect">
            <a:avLst/>
          </a:prstGeom>
          <a:solidFill>
            <a:srgbClr val="1A1D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5570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520440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Beneficiile Aplicației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9959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Cine beneficiază și cum?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07992"/>
            <a:ext cx="5669280" cy="960120"/>
          </a:xfrm>
          <a:prstGeom prst="rect">
            <a:avLst/>
          </a:prstGeom>
          <a:solidFill>
            <a:srgbClr val="1A1D27"/>
          </a:solidFill>
          <a:ln w="1524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617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8EF7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81144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Prezentarea Aplicației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05663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Interfața și funcționalitățile principale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568696"/>
            <a:ext cx="5669280" cy="960120"/>
          </a:xfrm>
          <a:prstGeom prst="rect">
            <a:avLst/>
          </a:prstGeom>
          <a:solidFill>
            <a:srgbClr val="1A1D27"/>
          </a:solidFill>
          <a:ln w="15240">
            <a:solidFill>
              <a:srgbClr val="889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67842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892A4"/>
                </a:solidFill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641848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Arhitectura Sistemului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611733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Stack tehnic: FastAPI · MongoDB · ML · React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325880"/>
            <a:ext cx="5669280" cy="960120"/>
          </a:xfrm>
          <a:prstGeom prst="rect">
            <a:avLst/>
          </a:prstGeom>
          <a:solidFill>
            <a:srgbClr val="1A1D2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14356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C55E"/>
                </a:solidFill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1399032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Baza de Date MongoDB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187452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Structura și operațiile bazei de date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386584"/>
            <a:ext cx="5669280" cy="960120"/>
          </a:xfrm>
          <a:prstGeom prst="rect">
            <a:avLst/>
          </a:prstGeom>
          <a:solidFill>
            <a:srgbClr val="1A1D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24963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2459736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Modelul de Machine Learning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293522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RandomForest + Altman Z-score blended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3447288"/>
            <a:ext cx="5669280" cy="960120"/>
          </a:xfrm>
          <a:prstGeom prst="rect">
            <a:avLst/>
          </a:prstGeom>
          <a:solidFill>
            <a:srgbClr val="1A1D27"/>
          </a:solidFill>
          <a:ln w="1524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35570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8EF7"/>
                </a:solidFill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3520440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Datele Oficiale MF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39959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Import, procesare, conversie CUI → Firmă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4507992"/>
            <a:ext cx="5669280" cy="960120"/>
          </a:xfrm>
          <a:prstGeom prst="rect">
            <a:avLst/>
          </a:prstGeom>
          <a:solidFill>
            <a:srgbClr val="1A1D2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64808" y="4617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C55E"/>
                </a:solidFill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4581144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Rezultate și KPI-uri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505663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Metrici model, volume, performanță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5568696"/>
            <a:ext cx="5669280" cy="960120"/>
          </a:xfrm>
          <a:prstGeom prst="rect">
            <a:avLst/>
          </a:prstGeom>
          <a:solidFill>
            <a:srgbClr val="1A1D27"/>
          </a:solidFill>
          <a:ln w="15240">
            <a:solidFill>
              <a:srgbClr val="889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64808" y="567842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892A4"/>
                </a:solidFill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5641848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Concluzii și Perspective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611733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Ce am învățat și direcții viitoare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Contextul și Motivația Proiectului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8EF7"/>
                </a:solidFill>
              </a:rPr>
              <a:t>01 ·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2A4"/>
                </a:solidFill>
              </a:rPr>
              <a:t>De ce am creat BankruptIQ?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2E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486400" cy="5212080"/>
          </a:xfrm>
          <a:prstGeom prst="rect">
            <a:avLst/>
          </a:prstGeom>
          <a:solidFill>
            <a:srgbClr val="1A1D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PROBLEMA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</a:rPr>
              <a:t>Situatia Actuala in Romania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In fiecare an, mii de firme romanesti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060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intra in insolventa, afectand angajati,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803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furnizori si parteneri de afaceri.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546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290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9E0B"/>
                </a:solidFill>
              </a:rPr>
              <a:t>&gt; 50.000 firme intrate in insolventa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033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  in Romania doar in 2022-2023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9776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2519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9E0B"/>
                </a:solidFill>
              </a:rPr>
              <a:t>&gt; Creditorii pierd in medie 60-70%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262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  din creantele 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8006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0749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9E0B"/>
                </a:solidFill>
              </a:rPr>
              <a:t>&gt; Bancile si investitorii nu au acces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492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  la un sistem de predictie accesibil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6235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  bazat pe date financiare deschise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8978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1722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9E0B"/>
                </a:solidFill>
              </a:rPr>
              <a:t>&gt; Datele MF sunt publice dar greu 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465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  procesat si interpretat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280160"/>
            <a:ext cx="5486400" cy="5212080"/>
          </a:xfrm>
          <a:prstGeom prst="rect">
            <a:avLst/>
          </a:prstGeom>
          <a:solidFill>
            <a:srgbClr val="1A1D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371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SOLUTIA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18288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</a:rPr>
              <a:t>Ce face BankruptIQ diferit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2331720"/>
            <a:ext cx="5120640" cy="1024128"/>
          </a:xfrm>
          <a:prstGeom prst="rect">
            <a:avLst/>
          </a:prstGeom>
          <a:solidFill>
            <a:srgbClr val="22263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24048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Date oficiale reale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7889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Foloseste datele financiare publicate
de Ministerul Finantelor pe data.gov.ro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3474720"/>
            <a:ext cx="5120640" cy="1024128"/>
          </a:xfrm>
          <a:prstGeom prst="rect">
            <a:avLst/>
          </a:prstGeom>
          <a:solidFill>
            <a:srgbClr val="22263A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5478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Algoritm hibrid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9319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Combina RandomForest (ML modern) cu
Altman Z-score (model academic validat)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4617720"/>
            <a:ext cx="5120640" cy="1024128"/>
          </a:xfrm>
          <a:prstGeom prst="rect">
            <a:avLst/>
          </a:prstGeom>
          <a:solidFill>
            <a:srgbClr val="22263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6908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Accesibil si deschis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0749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Interfata web intuitiva, fara cunostinte
tehnice avansate necesare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5760720"/>
            <a:ext cx="5120640" cy="1024128"/>
          </a:xfrm>
          <a:prstGeom prst="rect">
            <a:avLst/>
          </a:prstGeom>
          <a:solidFill>
            <a:srgbClr val="22263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58338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Scalabil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62179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Analizeaza 80.000+ companii simultan
cu raspuns in sub 200ms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Obiectivele Proiectului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8EF7"/>
                </a:solidFill>
              </a:rPr>
              <a:t>02 · Obiective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2A4"/>
                </a:solidFill>
              </a:rPr>
              <a:t>Ce ne-am propus sa realizam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2E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11247120" cy="1005840"/>
          </a:xfrm>
          <a:prstGeom prst="rect">
            <a:avLst/>
          </a:prstGeom>
          <a:solidFill>
            <a:srgbClr val="22263A"/>
          </a:solidFill>
          <a:ln w="254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7"/>
                </a:solidFill>
              </a:rPr>
              <a:t>Obiectiv General: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Crearea unui sistem automat de evaluare a riscului de faliment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2938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pentru companiile romanesti, bazat pe date financiare publice,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671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accesibil oricarei persoane fara cunostinte tehnice avansate.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3547872" cy="1691640"/>
          </a:xfrm>
          <a:prstGeom prst="rect">
            <a:avLst/>
          </a:prstGeom>
          <a:solidFill>
            <a:srgbClr val="1A1D27"/>
          </a:solidFill>
          <a:ln w="190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594360" cy="169164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514600"/>
            <a:ext cx="594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117"/>
                </a:solidFill>
              </a:rPr>
              <a:t>O1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2606040"/>
            <a:ext cx="2816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8EF7"/>
                </a:solidFill>
              </a:rPr>
              <a:t>Date reale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044952"/>
            <a:ext cx="28163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Colectarea si procesarea datelor financiare
officiale de la Ministerul Finantelor
(data.gov.ro) pentru 6 ani fiscali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0832" y="2514600"/>
            <a:ext cx="3547872" cy="1691640"/>
          </a:xfrm>
          <a:prstGeom prst="rect">
            <a:avLst/>
          </a:prstGeom>
          <a:solidFill>
            <a:srgbClr val="1A1D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2" y="2514600"/>
            <a:ext cx="594360" cy="1691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2514600"/>
            <a:ext cx="594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117"/>
                </a:solidFill>
              </a:rPr>
              <a:t>O2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606040"/>
            <a:ext cx="2816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Model 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044952"/>
            <a:ext cx="28163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Dezvoltarea unui model de clasificare
RandomForest cu acuratete &gt;85%, combinat
cu formula academica Altman Z-score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84464" y="2514600"/>
            <a:ext cx="3547872" cy="1691640"/>
          </a:xfrm>
          <a:prstGeom prst="rect">
            <a:avLst/>
          </a:prstGeom>
          <a:solidFill>
            <a:srgbClr val="1A1D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84464" y="2514600"/>
            <a:ext cx="594360" cy="1691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2514600"/>
            <a:ext cx="594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117"/>
                </a:solidFill>
              </a:rPr>
              <a:t>O3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2606040"/>
            <a:ext cx="2816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Baza de 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3044952"/>
            <a:ext cx="28163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Stocarea eficienta a datelor in MongoDB
cu indexuri compuse pentru
interogari rapide (&lt;200ms)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343400"/>
            <a:ext cx="3547872" cy="1691640"/>
          </a:xfrm>
          <a:prstGeom prst="rect">
            <a:avLst/>
          </a:prstGeom>
          <a:solidFill>
            <a:srgbClr val="1A1D27"/>
          </a:solidFill>
          <a:ln w="190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343400"/>
            <a:ext cx="594360" cy="169164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343400"/>
            <a:ext cx="594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117"/>
                </a:solidFill>
              </a:rPr>
              <a:t>O4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4434840"/>
            <a:ext cx="2816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8EF7"/>
                </a:solidFill>
              </a:rPr>
              <a:t>API REST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4873752"/>
            <a:ext cx="28163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Implementarea unui API REST modern
(FastAPI) cu endpoint-uri pentru
listare, filtrare, predictie si import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70832" y="4343400"/>
            <a:ext cx="3547872" cy="1691640"/>
          </a:xfrm>
          <a:prstGeom prst="rect">
            <a:avLst/>
          </a:prstGeom>
          <a:solidFill>
            <a:srgbClr val="1A1D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70832" y="4343400"/>
            <a:ext cx="594360" cy="1691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70832" y="4343400"/>
            <a:ext cx="594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117"/>
                </a:solidFill>
              </a:rPr>
              <a:t>O5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434840"/>
            <a:ext cx="2816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4873752"/>
            <a:ext cx="28163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Crearea unei interfete web interactive
(React + Plotly) cu vizualizari
si functii de comparare companii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84464" y="4343400"/>
            <a:ext cx="3547872" cy="1691640"/>
          </a:xfrm>
          <a:prstGeom prst="rect">
            <a:avLst/>
          </a:prstGeom>
          <a:solidFill>
            <a:srgbClr val="1A1D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84464" y="4343400"/>
            <a:ext cx="594360" cy="1691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84464" y="4343400"/>
            <a:ext cx="594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117"/>
                </a:solidFill>
              </a:rPr>
              <a:t>O6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42832" y="4434840"/>
            <a:ext cx="2816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Conversie CUI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42832" y="4873752"/>
            <a:ext cx="28163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Imbogatirea automata a datelor cu
denumirile reale ale firmelor prin
API ANAF si cache ONRC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Beneficiile Aplicatiei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8EF7"/>
                </a:solidFill>
              </a:rPr>
              <a:t>03 · Beneficii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2A4"/>
                </a:solidFill>
              </a:rPr>
              <a:t>Cine beneficiaza si cum? Impact practic concret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2E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2743200" cy="5303520"/>
          </a:xfrm>
          <a:prstGeom prst="rect">
            <a:avLst/>
          </a:prstGeom>
          <a:solidFill>
            <a:srgbClr val="1A1D27"/>
          </a:solidFill>
          <a:ln w="190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2743200" cy="64008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80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117"/>
                </a:solidFill>
              </a:rPr>
              <a:t>Banci si
Institutii Financiare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05740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Evaluare rapida a bonitatii clientilor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807208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Detectie timpurie risc credit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57016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Reducere pierderi prin provizioane corecte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306824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Conformitate Basel III / IFRS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05663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Audit portofoliu credite in cateva secunde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280160"/>
            <a:ext cx="2743200" cy="5303520"/>
          </a:xfrm>
          <a:prstGeom prst="rect">
            <a:avLst/>
          </a:prstGeom>
          <a:solidFill>
            <a:srgbClr val="1A1D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0" y="1280160"/>
            <a:ext cx="2743200" cy="640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1280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117"/>
                </a:solidFill>
              </a:rPr>
              <a:t>Investitori si
Fonduri de Capital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205740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Due diligence automat inainte de investitie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2807208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Monitorizare continua portofoliu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3557016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Comparare simultana 100+ companii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4306824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Identificare oportunitati de restructurare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505663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Benchmarking sector vs. competitor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280160"/>
            <a:ext cx="2743200" cy="5303520"/>
          </a:xfrm>
          <a:prstGeom prst="rect">
            <a:avLst/>
          </a:prstGeom>
          <a:solidFill>
            <a:srgbClr val="1A1D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1280160"/>
            <a:ext cx="27432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280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117"/>
                </a:solidFill>
              </a:rPr>
              <a:t>Furnizori si
Parteneri Comerciali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205740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Verificare client inainte de credit comercial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2807208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Stabilire limite de credit personalizate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3557016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Alerte automate la deteriorare situatie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306824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Reducere risc creante neincasate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505663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Decizie informata privind termenii contract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1280160"/>
            <a:ext cx="2743200" cy="5303520"/>
          </a:xfrm>
          <a:prstGeom prst="rect">
            <a:avLst/>
          </a:prstGeom>
          <a:solidFill>
            <a:srgbClr val="1A1D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5440" y="1280160"/>
            <a:ext cx="2743200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1280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117"/>
                </a:solidFill>
              </a:rPr>
              <a:t>Antreprenori si
Manageri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45168" y="205740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Analiza proprie a sanatatii financiare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8" y="2807208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Comparatie cu media sectorului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8" y="3557016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Identificare indicatori cu risc ridicat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8" y="4306824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Benchmark fata de competitori din sector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5168" y="505663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Justificare decizii in fata actionarilor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492240"/>
            <a:ext cx="11247120" cy="292608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6519672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Reducere timp analiza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651967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8EF7"/>
                </a:solidFill>
              </a:rPr>
              <a:t>De la 2-3 zile  la  &lt; 30 secunde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6519672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Acuratete predictie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651967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8EF7"/>
                </a:solidFill>
              </a:rPr>
              <a:t>88%+ (RandomForest + Altman Z)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6519672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Date acoperite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651967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8EF7"/>
                </a:solidFill>
              </a:rPr>
              <a:t>80.000+ companii · 2017–2023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Interfata Aplicatiei — Pagina Principala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8EF7"/>
                </a:solidFill>
              </a:rPr>
              <a:t>04 · UI/UX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2A4"/>
                </a:solidFill>
              </a:rPr>
              <a:t>Prima impresie: landing page modern, clar, orientat spre actiune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2E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5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1872"/>
            <a:ext cx="7498079" cy="53035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29600" y="1261872"/>
            <a:ext cx="3749039" cy="530352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3716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8EF7"/>
                </a:solidFill>
              </a:rPr>
              <a:t>Ce ofera pagina principala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1874519"/>
            <a:ext cx="3429000" cy="896112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929383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Titlu clar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76855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Mesajul aplicatiei este imediat
inteles de orice utilizator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2880359"/>
            <a:ext cx="3429000" cy="896112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935223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CTA primar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282695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Buton direct catre Dashboard
fara pasi intermediari inutili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3886199"/>
            <a:ext cx="3429000" cy="896112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3941063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4 feature cards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288535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Prezentare concisa a
capacitatilor principale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4892039"/>
            <a:ext cx="3429000" cy="896112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4946903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Tech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5294375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Vizibil credibilitatea tehnica
a solutiei propuse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5897879"/>
            <a:ext cx="3429000" cy="896112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5952743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Design fintech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6300215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Tema dark profesionala,
cu accente albastre specifice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Interfata Aplicatiei — Dashboard Principal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8EF7"/>
                </a:solidFill>
              </a:rPr>
              <a:t>04 ·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2A4"/>
                </a:solidFill>
              </a:rPr>
              <a:t>Vedere de ansamblu: KPI cards, grafice sector, alerte, evolutie temporala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2E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1872"/>
            <a:ext cx="7498079" cy="53035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29600" y="1261872"/>
            <a:ext cx="3749039" cy="530352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3716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8EF7"/>
                </a:solidFill>
              </a:rPr>
              <a:t>Componentele dashboard-ului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1874519"/>
            <a:ext cx="3429000" cy="896112"/>
          </a:xfrm>
          <a:prstGeom prst="rect">
            <a:avLst/>
          </a:prstGeom>
          <a:solidFill>
            <a:srgbClr val="22263A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1874519"/>
            <a:ext cx="54864" cy="89611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1929383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5 KPI 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2304287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Total companii · Risc mare/mediu/mic
· Scor mediu global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2880359"/>
            <a:ext cx="3429000" cy="896112"/>
          </a:xfrm>
          <a:prstGeom prst="rect">
            <a:avLst/>
          </a:prstGeom>
          <a:solidFill>
            <a:srgbClr val="22263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2880359"/>
            <a:ext cx="54864" cy="8961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2935223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Grafic stacked 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3310127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Distributia riscului pe sectoare
(10 domenii de activitate)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3886199"/>
            <a:ext cx="3429000" cy="896112"/>
          </a:xfrm>
          <a:prstGeom prst="rect">
            <a:avLst/>
          </a:prstGeom>
          <a:solidFill>
            <a:srgbClr val="22263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66760" y="3886199"/>
            <a:ext cx="54864" cy="8961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76488" y="3941063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Grafic donut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6488" y="4315967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Ponderea globala a nivelurilor
de risc (pie chart interactiv)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4892039"/>
            <a:ext cx="3429000" cy="896112"/>
          </a:xfrm>
          <a:prstGeom prst="rect">
            <a:avLst/>
          </a:prstGeom>
          <a:solidFill>
            <a:srgbClr val="22263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6760" y="4892039"/>
            <a:ext cx="54864" cy="8961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6488" y="4946903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Trend temporal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5321807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Evolutia % risc mare si mediu
pentru 2017-2023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60" y="5897879"/>
            <a:ext cx="3429000" cy="896112"/>
          </a:xfrm>
          <a:prstGeom prst="rect">
            <a:avLst/>
          </a:prstGeom>
          <a:solidFill>
            <a:srgbClr val="22263A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66760" y="5897879"/>
            <a:ext cx="54864" cy="89611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76488" y="5952743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Alerte recente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6488" y="6327647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Top companii cu risc ridicat
detectate recent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Interfata Aplicatiei — Managementul Companiilor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8EF7"/>
                </a:solidFill>
              </a:rPr>
              <a:t>04 · Companii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2A4"/>
                </a:solidFill>
              </a:rPr>
              <a:t>Tabel interactiv cu filtrare, cautare, sortare si acces rapid la detalii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2E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2_compan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1872"/>
            <a:ext cx="1124712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5532120"/>
            <a:ext cx="1828800" cy="1188720"/>
          </a:xfrm>
          <a:prstGeom prst="rect">
            <a:avLst/>
          </a:prstGeom>
          <a:solidFill>
            <a:srgbClr val="1A1D27"/>
          </a:solidFill>
          <a:ln w="1524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7"/>
                </a:solidFill>
              </a:rPr>
              <a:t>Cautare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Filtru instant dupa
numele companiei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04872" y="5532120"/>
            <a:ext cx="1828800" cy="1188720"/>
          </a:xfrm>
          <a:prstGeom prst="rect">
            <a:avLst/>
          </a:prstGeom>
          <a:solidFill>
            <a:srgbClr val="1A1D2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6312" y="55778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Filtre multiple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594360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Sector · Nivel risc
· An fiscal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52544" y="5532120"/>
            <a:ext cx="1828800" cy="1188720"/>
          </a:xfrm>
          <a:prstGeom prst="rect">
            <a:avLst/>
          </a:prstGeom>
          <a:solidFill>
            <a:srgbClr val="1A1D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55778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Risk badges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594360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Cod color: verde/
galben/rosu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0216" y="5532120"/>
            <a:ext cx="1828800" cy="1188720"/>
          </a:xfrm>
          <a:prstGeom prst="rect">
            <a:avLst/>
          </a:prstGeom>
          <a:solidFill>
            <a:srgbClr val="1A1D27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55778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Scor numeric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594360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0-100: cat mai mare,
cu atat risc mai mare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47888" y="5532120"/>
            <a:ext cx="1828800" cy="1188720"/>
          </a:xfrm>
          <a:prstGeom prst="rect">
            <a:avLst/>
          </a:prstGeom>
          <a:solidFill>
            <a:srgbClr val="1A1D27"/>
          </a:solidFill>
          <a:ln w="1524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8" y="55778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7"/>
                </a:solidFill>
              </a:rPr>
              <a:t>Export 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594360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Download date filtrate
pentru analiza externa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95560" y="5532120"/>
            <a:ext cx="1828800" cy="1188720"/>
          </a:xfrm>
          <a:prstGeom prst="rect">
            <a:avLst/>
          </a:prstGeom>
          <a:solidFill>
            <a:srgbClr val="1A1D27"/>
          </a:solidFill>
          <a:ln w="15240">
            <a:solidFill>
              <a:srgbClr val="889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55778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92A4"/>
                </a:solidFill>
              </a:rPr>
              <a:t>Detalii companie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594360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Click → fisa completa
cu toti indicatorii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Interfata Aplicatiei — Predictia Riscului de Faliment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8EF7"/>
                </a:solidFill>
              </a:rPr>
              <a:t>04 · Predictie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2A4"/>
                </a:solidFill>
              </a:rPr>
              <a:t>Analiza individuala: scor blended, importanta feature-urilor, benchmarking sector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2E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3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1872"/>
            <a:ext cx="7498079" cy="53035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29600" y="1261872"/>
            <a:ext cx="3749039" cy="530352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3716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8EF7"/>
                </a:solidFill>
              </a:rPr>
              <a:t>Cum se interpreteaza rezultatul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1874519"/>
            <a:ext cx="3429000" cy="896112"/>
          </a:xfrm>
          <a:prstGeom prst="rect">
            <a:avLst/>
          </a:prstGeom>
          <a:solidFill>
            <a:srgbClr val="22263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929383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Scor &gt; 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304287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RISC MARE — faliment probabil
In 12-24 luni daca nu se actioneaza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2880359"/>
            <a:ext cx="3429000" cy="896112"/>
          </a:xfrm>
          <a:prstGeom prst="rect">
            <a:avLst/>
          </a:prstGeom>
          <a:solidFill>
            <a:srgbClr val="22263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935223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Scor 33-66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310127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RISC MEDIU — zona gri
Monitorizare si actiuni preventive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3886199"/>
            <a:ext cx="3429000" cy="896112"/>
          </a:xfrm>
          <a:prstGeom prst="rect">
            <a:avLst/>
          </a:prstGeom>
          <a:solidFill>
            <a:srgbClr val="22263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3941063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Scor &lt; 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315967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RISC MIC — firma sanatoasa
Indicatori in parametri normali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4892039"/>
            <a:ext cx="3429000" cy="896112"/>
          </a:xfrm>
          <a:prstGeom prst="rect">
            <a:avLst/>
          </a:prstGeom>
          <a:solidFill>
            <a:srgbClr val="22263A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4946903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7"/>
                </a:solidFill>
              </a:rPr>
              <a:t>Altman Z'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5321807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Validare academica independenta
&lt; 1.81: distress · &gt; 2.99: safe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5897879"/>
            <a:ext cx="3429000" cy="896112"/>
          </a:xfrm>
          <a:prstGeom prst="rect">
            <a:avLst/>
          </a:prstGeom>
          <a:solidFill>
            <a:srgbClr val="22263A"/>
          </a:solidFill>
          <a:ln w="12700">
            <a:solidFill>
              <a:srgbClr val="889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5952743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92A4"/>
                </a:solidFill>
              </a:rPr>
              <a:t>Importanta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6327647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Care indicator contribuie
cel mai mult la scorul final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Interfata Aplicatiei — Statistici si Analize Avansate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8EF7"/>
                </a:solidFill>
              </a:rPr>
              <a:t>04 · Statistici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2A4"/>
                </a:solidFill>
              </a:rPr>
              <a:t>Corelatie indicatori · Distributii · Scatter plots · Box plots pe sector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2E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4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1872"/>
            <a:ext cx="11247120" cy="4754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1447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8EF7"/>
                </a:solidFill>
              </a:rPr>
              <a:t>Matrice corelatie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3737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</a:rPr>
              <a:t>Legaturile dintre toti cei 10 indicatori financiari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61447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8EF7"/>
                </a:solidFill>
              </a:rPr>
              <a:t>Distributii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643737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</a:rPr>
              <a:t>Separare vizuala sanatosi vs. falimentati per indicator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1447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8EF7"/>
                </a:solidFill>
              </a:rPr>
              <a:t>Scatter ROA vs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643737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</a:rPr>
              <a:t>Zona de separare clasificare pentru doua featuri cheie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1447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8EF7"/>
                </a:solidFill>
              </a:rPr>
              <a:t>Box plot sector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643737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</a:rPr>
              <a:t>Variabilitatea scorului de risc per domeniu de activitate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1447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8EF7"/>
                </a:solidFill>
              </a:rPr>
              <a:t>Altman Z distributie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3737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</a:rPr>
              <a:t>Distributia valorilor Z cu zonele de distress/safe marcate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Arhitectura Tehnica a Sistemului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8EF7"/>
                </a:solidFill>
              </a:rPr>
              <a:t>05 · Arhitectura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2A4"/>
                </a:solidFill>
              </a:rPr>
              <a:t>Arhitectura pe niveluri: Prezentare · Logica · Date · ML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2E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2743200" cy="5303520"/>
          </a:xfrm>
          <a:prstGeom prst="rect">
            <a:avLst/>
          </a:prstGeom>
          <a:solidFill>
            <a:srgbClr val="1A1D27"/>
          </a:solidFill>
          <a:ln w="190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2743200" cy="50292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801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117"/>
                </a:solidFill>
              </a:rPr>
              <a:t>NIVEL 1 — PREZENTARE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React (JSX fara build tools)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7860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Plotly.js — grafice interactive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3697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CSS variabile — 4 teme vizuale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95344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dashboard.html + index.html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5371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Servit static de 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38404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F8EF7"/>
                </a:solidFill>
              </a:rPr>
              <a:t>-&gt;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1280160"/>
            <a:ext cx="2743200" cy="5303520"/>
          </a:xfrm>
          <a:prstGeom prst="rect">
            <a:avLst/>
          </a:prstGeom>
          <a:solidFill>
            <a:srgbClr val="1A1D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0" y="1280160"/>
            <a:ext cx="274320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12801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117"/>
                </a:solidFill>
              </a:rPr>
              <a:t>NIVEL 2 — LOGICA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192024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FastAPI (Python 3.12)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57860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5 routere: companies, ml, alerts,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23697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  upload, macro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84048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Pydantic v2 — validare 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49884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CORS Middleware — securitate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515721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Lifespan — indexuri la startup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38404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2C55E"/>
                </a:solidFill>
              </a:rPr>
              <a:t>-&gt;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280160"/>
            <a:ext cx="2743200" cy="5303520"/>
          </a:xfrm>
          <a:prstGeom prst="rect">
            <a:avLst/>
          </a:prstGeom>
          <a:solidFill>
            <a:srgbClr val="1A1D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1280160"/>
            <a:ext cx="274320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2801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117"/>
                </a:solidFill>
              </a:rPr>
              <a:t>NIVEL 3 — 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192024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MongoDB (Motor async driver)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57860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3 colectii: companies, alerts,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23697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  macro_indicators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84048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Indexuri compuse pentru filtrare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49884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Query-uri async/await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15721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Fallback: CSV local daca DB offline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6568" y="38404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9E0B"/>
                </a:solidFill>
              </a:rPr>
              <a:t>-&gt;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1280160"/>
            <a:ext cx="2743200" cy="5303520"/>
          </a:xfrm>
          <a:prstGeom prst="rect">
            <a:avLst/>
          </a:prstGeom>
          <a:solidFill>
            <a:srgbClr val="1A1D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35440" y="1280160"/>
            <a:ext cx="274320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12801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117"/>
                </a:solidFill>
              </a:rPr>
              <a:t>NIVEL 4 — ML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192024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scikit-learn Pipeline: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257860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  SimpleImputer (mediana)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318211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  StandardScaler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378561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  RandomForestClassifier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438912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Altman Z-score (1983)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504748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Blended: 60% Z + 40% 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Baza de Date MongoDB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8EF7"/>
                </a:solidFill>
              </a:rPr>
              <a:t>06 · 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2A4"/>
                </a:solidFill>
              </a:rPr>
              <a:t>Colectii, scheme documente, indexuri si operatii asincrone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2E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566160" cy="5257800"/>
          </a:xfrm>
          <a:prstGeom prst="rect">
            <a:avLst/>
          </a:prstGeom>
          <a:solidFill>
            <a:srgbClr val="0A141E"/>
          </a:solidFill>
          <a:ln w="254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3566160" cy="4572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80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117"/>
                </a:solidFill>
              </a:rPr>
              <a:t>companies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470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E8FA"/>
                </a:solidFill>
              </a:rPr>
              <a:t>company_name  : string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093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E8FA"/>
                </a:solidFill>
              </a:rPr>
              <a:t>year          : 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34086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E8FA"/>
                </a:solidFill>
              </a:rPr>
              <a:t>sector        : string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877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E8FA"/>
                </a:solidFill>
              </a:rPr>
              <a:t>indicators    : {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8346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  current_ratio    : float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0815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  quick_ratio      : float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2841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  debt_ratio       : float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57530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  debt_to_equity   : float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8221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  net_profit_margin: float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0690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  return_on_assets : float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3159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  return_on_equity : float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56285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  asset_turnover   : float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8097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  working_capital  : float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0566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  interest_coverage: float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3035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5504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E8FA"/>
                </a:solidFill>
              </a:rPr>
              <a:t>risk_score    : float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7972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E8FA"/>
                </a:solidFill>
              </a:rPr>
              <a:t>risk_label    : string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04418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E8FA"/>
                </a:solidFill>
              </a:rPr>
              <a:t>is_bankrupt   : int | null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2910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E8FA"/>
                </a:solidFill>
              </a:rPr>
              <a:t>created_at    : datetime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61687" y="1280160"/>
            <a:ext cx="3566160" cy="5257800"/>
          </a:xfrm>
          <a:prstGeom prst="rect">
            <a:avLst/>
          </a:prstGeom>
          <a:solidFill>
            <a:srgbClr val="0A141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61687" y="1280160"/>
            <a:ext cx="356616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1687" y="1280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117"/>
                </a:solidFill>
              </a:rPr>
              <a:t>alerts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7" y="18470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E8FA"/>
                </a:solidFill>
              </a:rPr>
              <a:t>company_name : string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7" y="2093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E8FA"/>
                </a:solidFill>
              </a:rPr>
              <a:t>risk_label   : string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8847" y="234086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E8FA"/>
                </a:solidFill>
              </a:rPr>
              <a:t>risk_score   : float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8847" y="25877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E8FA"/>
                </a:solidFill>
              </a:rPr>
              <a:t>sector       : string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98847" y="28346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E8FA"/>
                </a:solidFill>
              </a:rPr>
              <a:t>message      : string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8847" y="30815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E8FA"/>
                </a:solidFill>
              </a:rPr>
              <a:t>severity     : string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98847" y="332841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E8FA"/>
                </a:solidFill>
              </a:rPr>
              <a:t>created_at   : datetime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66174" y="1280160"/>
            <a:ext cx="3566160" cy="5257800"/>
          </a:xfrm>
          <a:prstGeom prst="rect">
            <a:avLst/>
          </a:prstGeom>
          <a:solidFill>
            <a:srgbClr val="0A141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66174" y="1280160"/>
            <a:ext cx="356616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66174" y="1280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117"/>
                </a:solidFill>
              </a:rPr>
              <a:t>macro_indicators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03334" y="18470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E8FA"/>
                </a:solidFill>
              </a:rPr>
              <a:t>indicator    : string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03334" y="2093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E8FA"/>
                </a:solidFill>
              </a:rPr>
              <a:t>value        : float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03334" y="234086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E8FA"/>
                </a:solidFill>
              </a:rPr>
              <a:t>year         : 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03334" y="25877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E8FA"/>
                </a:solidFill>
              </a:rPr>
              <a:t>source       : string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03334" y="28346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E8FA"/>
                </a:solidFill>
              </a:rPr>
              <a:t>updated_at   : datetime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5105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2A4"/>
                </a:solidFill>
              </a:rPr>
              <a:t>Indexuri create la startup (backend/main.py):  company_name · risk_label · sector · (risk_label, sector)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Modelul de Machine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8EF7"/>
                </a:solidFill>
              </a:rPr>
              <a:t>07 ·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2A4"/>
                </a:solidFill>
              </a:rPr>
              <a:t>Pipeline RandomForest + Altman Z-score: metodologie, algoritm, justificare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2E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394960" cy="2377440"/>
          </a:xfrm>
          <a:prstGeom prst="rect">
            <a:avLst/>
          </a:prstGeom>
          <a:solidFill>
            <a:srgbClr val="1A1D27"/>
          </a:solidFill>
          <a:ln w="1524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533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8EF7"/>
                </a:solidFill>
              </a:rPr>
              <a:t>De ce RandomForest?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1051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Gestioneaza relatii neliniare intre indicatori (ex: DR ridicat + CR scazut = risc exponential)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Robust la outlieri frecventi in datele financiare reale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9572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Ofera importanta variabilelor =&gt; interpretabilitate pentru utilizatori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8833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class_weight='balanced': compenseaza dezechilibrul tipic (putine falimente vs. firme sanatoase)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8094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+ n_jobs=-1: paralelizeaza antrenarea pe toate core-urile CPU disponibile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5394960" cy="2834640"/>
          </a:xfrm>
          <a:prstGeom prst="rect">
            <a:avLst/>
          </a:prstGeom>
          <a:solidFill>
            <a:srgbClr val="1A1D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822191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Formula Altman Z-score (1983, firme private)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2E8F0"/>
                </a:solidFill>
              </a:rPr>
              <a:t>Z' = 0.717*X1 + 0.847*X2 + 3.107*X3 + 0.420*X4 + 0.998*X5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70916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9E0B"/>
                </a:solidFill>
              </a:rPr>
              <a:t>X1 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7091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Working Capital / Total Assets (working_capital_ratio)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9E0B"/>
                </a:solidFill>
              </a:rPr>
              <a:t>X2 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9834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Retained Earnings / TA (aproximat: ROA * 0.65)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25780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9E0B"/>
                </a:solidFill>
              </a:rPr>
              <a:t>X3 =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525780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EBIT / Total Assets (aproximat: ROA * 1.40)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3212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9E0B"/>
                </a:solidFill>
              </a:rPr>
              <a:t>X4 =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553212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Book Value Equity / Total Liabilities ((1-DR)/DR)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0644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9E0B"/>
                </a:solidFill>
              </a:rPr>
              <a:t>X5 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58064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Revenue / Total Assets (asset_turnover)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0807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8892A4"/>
                </a:solidFill>
              </a:rPr>
              <a:t>Z' &lt; 1.81 = Distress  |  1.81-2.99 = Zona gri  |  &gt; 2.99 = Sigur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280160"/>
            <a:ext cx="5486400" cy="2377440"/>
          </a:xfrm>
          <a:prstGeom prst="rect">
            <a:avLst/>
          </a:prstGeom>
          <a:solidFill>
            <a:srgbClr val="1A1D2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13533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Pipeline scikit-learn (3 etape)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184708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2C55E"/>
                </a:solidFill>
              </a:rPr>
              <a:t>1. SimpleImputer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1671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strategy='median' — inlocuieste valorile
lipsa cu mediana coloanei respective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262432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2C55E"/>
                </a:solidFill>
              </a:rPr>
              <a:t>2. StandardScaler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294436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Normalizeaza: z=(x-media)/devstd
Egalizeaza importanta feature-urilor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4015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2C55E"/>
                </a:solidFill>
              </a:rPr>
              <a:t>3. RandomForest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72160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n_estimators=200, max_depth=8
Produce probabilitate P(faliment)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749039"/>
            <a:ext cx="5486400" cy="2834640"/>
          </a:xfrm>
          <a:prstGeom prst="rect">
            <a:avLst/>
          </a:prstGeom>
          <a:solidFill>
            <a:srgbClr val="1A1D27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3822191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Scor Final Blended (inovatie cheie)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3159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F8EF7"/>
                </a:solidFill>
              </a:rPr>
              <a:t>SCOR = (Z-score_normalized * 0.60) + (ML_probability * 100 * 0.40)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5902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8646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Motivatie ponderi 60/40: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51389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+ Altman Z are validare academica de 50+ ani si functioneaza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54132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  mai bine pe date cu putine exemple de faliment (imbalanced)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56875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+ ML-ul (RandomForest) capteaza relatii neliniare moderne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9618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  pe care Z-score nu le poate modela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62362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65105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Rezultat: Risc mic (0-32) · Risc mediu (33-66) · Risc mare (67-100)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Datele Oficiale si Conversia CUI -&gt; Denumire Firma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8EF7"/>
                </a:solidFill>
              </a:rPr>
              <a:t>08 · Date MF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2A4"/>
                </a:solidFill>
              </a:rPr>
              <a:t>Pipeline de la data.gov.ro la MongoDB: fetch, calcul, filtrare, imbogatire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2E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1828800" cy="5257800"/>
          </a:xfrm>
          <a:prstGeom prst="rect">
            <a:avLst/>
          </a:prstGeom>
          <a:solidFill>
            <a:srgbClr val="1A1D27"/>
          </a:solidFill>
          <a:ln w="190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828800" cy="50292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80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117"/>
                </a:solidFill>
              </a:rPr>
              <a:t>1
SURSA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7452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</a:rPr>
              <a:t>data.gov.ro
Ministerul
Finantelor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468880"/>
            <a:ext cx="1554480" cy="18288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WEB_BL_BS_SL_AN{an}.txt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529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Separator: ; (cp1250)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272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Anii: 2014,2017,2019-2020,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01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2022-2023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0008" y="384048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F8EF7"/>
                </a:solidFill>
              </a:rPr>
              <a:t>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1280160"/>
            <a:ext cx="1828800" cy="5257800"/>
          </a:xfrm>
          <a:prstGeom prst="rect">
            <a:avLst/>
          </a:prstGeom>
          <a:solidFill>
            <a:srgbClr val="1A1D27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1280160"/>
            <a:ext cx="1828800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23160" y="1280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117"/>
                </a:solidFill>
              </a:rPr>
              <a:t>2
DESCARCARE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187452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</a:rPr>
              <a:t>fetch_mf.py
--local / --url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2468880"/>
            <a:ext cx="1554480" cy="1828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URL-uri hardcodate per 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28529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Fallback: API CKAN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1272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Suport ZIP si TXT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3401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9-62 MB per fisier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384048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C2FF"/>
                </a:solidFill>
              </a:rPr>
              <a:t>-&gt;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1280160"/>
            <a:ext cx="1828800" cy="5257800"/>
          </a:xfrm>
          <a:prstGeom prst="rect">
            <a:avLst/>
          </a:prstGeom>
          <a:solidFill>
            <a:srgbClr val="1A1D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1280160"/>
            <a:ext cx="182880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1280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117"/>
                </a:solidFill>
              </a:rPr>
              <a:t>3
CALCUL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187452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</a:rPr>
              <a:t>compute_ratios()
I1-I20 -&gt; 10 KPI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26280" y="2468880"/>
            <a:ext cx="1554480" cy="1828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current_ratio = I2/I7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28529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ROA = profit_net/active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31272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interest_cov = profit/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3401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(datorii*5%)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384048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2C55E"/>
                </a:solidFill>
              </a:rPr>
              <a:t>-&gt;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1280160"/>
            <a:ext cx="1828800" cy="5257800"/>
          </a:xfrm>
          <a:prstGeom prst="rect">
            <a:avLst/>
          </a:prstGeom>
          <a:solidFill>
            <a:srgbClr val="1A1D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5080" y="1280160"/>
            <a:ext cx="182880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1280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117"/>
                </a:solidFill>
              </a:rPr>
              <a:t>4
FILTRARE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187452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</a:rPr>
              <a:t>filter_valid()
Bounds per ind.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2468880"/>
            <a:ext cx="155448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Ex: debt_ratio in [-10,20]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28529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Elimina firme inactive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31272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Elimina outlieri extremi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401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Pastreaza date valide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7888" y="384048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59E0B"/>
                </a:solidFill>
              </a:rPr>
              <a:t>-&gt;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1040" y="1280160"/>
            <a:ext cx="1828800" cy="5257800"/>
          </a:xfrm>
          <a:prstGeom prst="rect">
            <a:avLst/>
          </a:prstGeom>
          <a:solidFill>
            <a:srgbClr val="1A1D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21040" y="1280160"/>
            <a:ext cx="182880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1280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117"/>
                </a:solidFill>
              </a:rPr>
              <a:t>5
CONVERSIE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187452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</a:rPr>
              <a:t>CUI -&gt; Denumire
3 metode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8200" y="2468880"/>
            <a:ext cx="1554480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0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1) API ANAF (batch 500)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28529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2) Cache ONRC (~650MB)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31272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3) CSV local propriu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3401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Prioritate auto-detect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13848" y="384048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F4444"/>
                </a:solidFill>
              </a:rPr>
              <a:t>-&gt;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287000" y="1280160"/>
            <a:ext cx="1828800" cy="5257800"/>
          </a:xfrm>
          <a:prstGeom prst="rect">
            <a:avLst/>
          </a:prstGeom>
          <a:solidFill>
            <a:srgbClr val="1A1D27"/>
          </a:solidFill>
          <a:ln w="19050">
            <a:solidFill>
              <a:srgbClr val="889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287000" y="1280160"/>
            <a:ext cx="1828800" cy="502920"/>
          </a:xfrm>
          <a:prstGeom prst="rect">
            <a:avLst/>
          </a:prstGeom>
          <a:solidFill>
            <a:srgbClr val="8892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287000" y="1280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117"/>
                </a:solidFill>
              </a:rPr>
              <a:t>6
IMPORT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78440" y="187452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</a:rPr>
              <a:t>import_csv.py
-&gt; MongoDB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424160" y="2468880"/>
            <a:ext cx="1554480" cy="18288"/>
          </a:xfrm>
          <a:prstGeom prst="rect">
            <a:avLst/>
          </a:prstGeom>
          <a:solidFill>
            <a:srgbClr val="8892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378440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Validare 12 coloane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78440" y="28529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Conversie numerica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78440" y="31272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Insert companies coll.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78440" y="3401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</a:rPr>
              <a:t>Trigger antrenare ML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65105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9E0B"/>
                </a:solidFill>
              </a:rPr>
              <a:t>ATENTIE: I7 = Datorii TOTALE (curent + termen lung neseparat) =&gt; current_ratio si quick_ratio sunt aproximari. Ani fara date: 2015, 2016, 2018, 2021.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Rezultate si KPI-uri ale Proiectului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8EF7"/>
                </a:solidFill>
              </a:rPr>
              <a:t>09 · Rezultate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2A4"/>
                </a:solidFill>
              </a:rPr>
              <a:t>Performanta modelului ML · Volume date · Indicatori tehnici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2E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2194560" cy="1234440"/>
          </a:xfrm>
          <a:prstGeom prst="rect">
            <a:avLst/>
          </a:prstGeom>
          <a:solidFill>
            <a:srgbClr val="1A1D27"/>
          </a:solidFill>
          <a:ln w="190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C55E"/>
                </a:solidFill>
              </a:rPr>
              <a:t>88.4%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</a:rPr>
              <a:t>Acuratete model
(test set 20%)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1280160"/>
            <a:ext cx="2194560" cy="1234440"/>
          </a:xfrm>
          <a:prstGeom prst="rect">
            <a:avLst/>
          </a:prstGeom>
          <a:solidFill>
            <a:srgbClr val="1A1D27"/>
          </a:solidFill>
          <a:ln w="190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C55E"/>
                </a:solidFill>
              </a:rPr>
              <a:t>0.913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9933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</a:rPr>
              <a:t>AUC-ROC Score
(clasificare)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280160"/>
            <a:ext cx="2194560" cy="1234440"/>
          </a:xfrm>
          <a:prstGeom prst="rect">
            <a:avLst/>
          </a:prstGeom>
          <a:solidFill>
            <a:srgbClr val="1A1D27"/>
          </a:solidFill>
          <a:ln w="190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F8EF7"/>
                </a:solidFill>
              </a:rPr>
              <a:t>85.2%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9933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</a:rPr>
              <a:t>F1-Score
(medie ponderata)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1280160"/>
            <a:ext cx="2194560" cy="1234440"/>
          </a:xfrm>
          <a:prstGeom prst="rect">
            <a:avLst/>
          </a:prstGeom>
          <a:solidFill>
            <a:srgbClr val="1A1D27"/>
          </a:solidFill>
          <a:ln w="190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</a:rPr>
              <a:t>80.000+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19933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</a:rPr>
              <a:t>Companii
analizate/an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1280160"/>
            <a:ext cx="2194560" cy="1234440"/>
          </a:xfrm>
          <a:prstGeom prst="rect">
            <a:avLst/>
          </a:prstGeom>
          <a:solidFill>
            <a:srgbClr val="1A1D27"/>
          </a:solidFill>
          <a:ln w="190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F8EF7"/>
                </a:solidFill>
              </a:rPr>
              <a:t>&lt; 200ms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19933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</a:rPr>
              <a:t>Timp raspuns
API predictie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651760"/>
            <a:ext cx="5394960" cy="3931920"/>
          </a:xfrm>
          <a:prstGeom prst="rect">
            <a:avLst/>
          </a:prstGeom>
          <a:solidFill>
            <a:srgbClr val="1A1D27"/>
          </a:solidFill>
          <a:ln w="15240">
            <a:solidFill>
              <a:srgbClr val="2E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7249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Metrici Detaliate — Model ML (RandomForest)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1821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2A4"/>
                </a:solidFill>
              </a:rPr>
              <a:t>Metrica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31821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2A4"/>
                </a:solidFill>
              </a:rPr>
              <a:t>Valoare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31821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2A4"/>
                </a:solidFill>
              </a:rPr>
              <a:t>Interpretare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56616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Accuracy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356616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88.4%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356616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Proportia predictiilor corecte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86791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Precision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386791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86.1%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386791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Cate alerte sunt cu adevarat riscante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16966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Recall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416966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84.7%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416966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Cate firme riscante sunt detectate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47141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F1-Score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447141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85.2%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447141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Media armonica Precision+Recall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477316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AUC-ROC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477316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0.913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6120" y="477316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Capacitatea de discriminare 0-1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50749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Train/Test split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50749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80/20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46120" y="50749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Stratificat dupa clasa (is_bankrupt)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537667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Clase balansate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1680" y="537667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46120" y="537667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class_weight='balanced' (RF param)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567842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Nr. arbori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11680" y="567842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200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46120" y="567842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n_estimators (RF hyperparameter)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598017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Adancime max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11680" y="598017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46120" y="598017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max_depth (controleaza overfitting)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2651760"/>
            <a:ext cx="5486400" cy="3931920"/>
          </a:xfrm>
          <a:prstGeom prst="rect">
            <a:avLst/>
          </a:prstGeom>
          <a:solidFill>
            <a:srgbClr val="1A1D27"/>
          </a:solidFill>
          <a:ln w="15240">
            <a:solidFill>
              <a:srgbClr val="2E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27249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Importanta Feature-urilor (%)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31821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debt_ratio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600" y="3218688"/>
            <a:ext cx="3029712" cy="182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305032" y="318211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28.4%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5080" y="35158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working_capital_ratio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0" y="3552444"/>
            <a:ext cx="1930908" cy="182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06228" y="351586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18.1%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55080" y="38496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current_ratio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0" y="3886200"/>
            <a:ext cx="1461516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36836" y="38496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13.7%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55080" y="41833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return_on_assets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0" y="4219956"/>
            <a:ext cx="1194816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70136" y="41833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11.2%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55080" y="45171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net_profit_margin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29600" y="4553712"/>
            <a:ext cx="992124" cy="18288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67444" y="451713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9.3%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55080" y="48508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debt_to_equity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0" y="4887468"/>
            <a:ext cx="832104" cy="18288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07424" y="48508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7.8%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55080" y="51846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asset_turnover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29600" y="5221224"/>
            <a:ext cx="522732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798052" y="518464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4.9%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55080" y="55184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interest_coverage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29600" y="5554980"/>
            <a:ext cx="362712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38032" y="551840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3.4%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55080" y="58521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quick_ratio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229600" y="5888736"/>
            <a:ext cx="213360" cy="182880"/>
          </a:xfrm>
          <a:prstGeom prst="rect">
            <a:avLst/>
          </a:prstGeom>
          <a:solidFill>
            <a:srgbClr val="8892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88680" y="58521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2.0%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55080" y="61859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return_on_equity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29600" y="6222492"/>
            <a:ext cx="128016" cy="182880"/>
          </a:xfrm>
          <a:prstGeom prst="rect">
            <a:avLst/>
          </a:prstGeom>
          <a:solidFill>
            <a:srgbClr val="8892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03336" y="618591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1.2%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" y="6492240"/>
            <a:ext cx="11247120" cy="292608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48640" y="651967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2A4"/>
                </a:solidFill>
              </a:rPr>
              <a:t>Date reale MF disponibile: 2014, 2017, 2019, 2020, 2022, 2023 · mf_2022.csv: ~80.000 companii valide (6.4 MB) · mf_all.csv: date combinate (~2.7 MB)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Concluzii si Perspective Viitoare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8EF7"/>
                </a:solidFill>
              </a:rPr>
              <a:t>10 · Concluzii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2A4"/>
                </a:solidFill>
              </a:rPr>
              <a:t>Ce am realizat, ce am invatat si incotro ne indreptam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2E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394960" cy="3063240"/>
          </a:xfrm>
          <a:prstGeom prst="rect">
            <a:avLst/>
          </a:prstGeom>
          <a:solidFill>
            <a:srgbClr val="1A1D27"/>
          </a:solidFill>
          <a:ln w="15240">
            <a:solidFill>
              <a:srgbClr val="2E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Ce am realizat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792224"/>
            <a:ext cx="5120640" cy="18288"/>
          </a:xfrm>
          <a:prstGeom prst="rect">
            <a:avLst/>
          </a:prstGeom>
          <a:solidFill>
            <a:srgbClr val="2E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745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  Un sistem functional end-to-end, de la date brute la predictie vizualizata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0370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  Integrare date reale (MF) cu algoritm hibrid (ML + Altman)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328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  API REST complet documentat (FastAPI + Pydantic v2)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620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  Dashboard interactiv React cu 4 teme vizuale si filtru avansat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19125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  Pipeline robusta: import CSV -&gt; MongoDB -&gt; antrenare -&gt; predictie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204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  Sistem de alerte automate pentru companii cu risc ridicat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5394960" cy="2331720"/>
          </a:xfrm>
          <a:prstGeom prst="rect">
            <a:avLst/>
          </a:prstGeom>
          <a:solidFill>
            <a:srgbClr val="1A1D27"/>
          </a:solidFill>
          <a:ln w="15240">
            <a:solidFill>
              <a:srgbClr val="2E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5262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444"/>
                </a:solidFill>
              </a:rPr>
              <a:t>Limitari si Riscuri Identificate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946904"/>
            <a:ext cx="5120640" cy="18288"/>
          </a:xfrm>
          <a:prstGeom prst="rect">
            <a:avLst/>
          </a:prstGeom>
          <a:solidFill>
            <a:srgbClr val="2E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029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  I7 = datorii totale (nu exista split curent/termen lung in datele MF)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583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  Ani lipsa: 2015, 2016, 2018, 2021 (MF nu a publicat date)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687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  is_bankrupt = NULL fara fisier CUI-uri insolventa (UNPIR/BPI)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167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  API ANAF poate fi blocat din unele retele/IP-uri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3459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  Modelul necesita reantrenare anuala pe date noi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280160"/>
            <a:ext cx="5486400" cy="3063240"/>
          </a:xfrm>
          <a:prstGeom prst="rect">
            <a:avLst/>
          </a:prstGeom>
          <a:solidFill>
            <a:srgbClr val="1A1D27"/>
          </a:solidFill>
          <a:ln w="15240">
            <a:solidFill>
              <a:srgbClr val="2E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3716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8EF7"/>
                </a:solidFill>
              </a:rPr>
              <a:t>Directii Viitoare de Dezvoltare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792224"/>
            <a:ext cx="5212080" cy="18288"/>
          </a:xfrm>
          <a:prstGeom prst="rect">
            <a:avLst/>
          </a:prstGeom>
          <a:solidFill>
            <a:srgbClr val="2E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8745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  Integrare flux date real-time de la ONRC (modificari firme)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20370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  Modul de comparare automata a competitorilor din acelasi sector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5328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  API webhook pentru alerte automate catre email/Slack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8620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  Export raport PDF automat per companie analizata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1912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  Model de predictie pe serii temporale (LSTM/Transformer)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520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  Extindere cu date UNPIR pentru etichete faliment reale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434840"/>
            <a:ext cx="5486400" cy="2331720"/>
          </a:xfrm>
          <a:prstGeom prst="rect">
            <a:avLst/>
          </a:prstGeom>
          <a:solidFill>
            <a:srgbClr val="1A1D27"/>
          </a:solidFill>
          <a:ln w="15240">
            <a:solidFill>
              <a:srgbClr val="2E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5262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Lectii Invatate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4946904"/>
            <a:ext cx="5212080" cy="18288"/>
          </a:xfrm>
          <a:prstGeom prst="rect">
            <a:avLst/>
          </a:prstGeom>
          <a:solidFill>
            <a:srgbClr val="2E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50292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  Datele reale sunt mai greu de procesat decat datele demo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358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  Un model simplu (RF) bine calibrat bate modele complexe slab reglate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56875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  MongoDB Motor async reduce semnificativ latenta API-ului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60167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</a:rPr>
              <a:t>  Altman Z-score ramane relevant dupa 50 de ani de la publicare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Bibliografie si Surse de 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37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8EF7"/>
                </a:solidFill>
              </a:rPr>
              <a:t>Bibliografie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2A4"/>
                </a:solidFill>
              </a:rPr>
              <a:t>Referinte academice, date oficiale si documentatie tehnica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2E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566160" cy="5257800"/>
          </a:xfrm>
          <a:prstGeom prst="rect">
            <a:avLst/>
          </a:prstGeom>
          <a:solidFill>
            <a:srgbClr val="1A1D27"/>
          </a:solidFill>
          <a:ln w="1524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</a:rPr>
              <a:t>Referinte Academice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792224"/>
            <a:ext cx="3291840" cy="18288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0195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[1] Altman, E.I. (1983). Corporate Financial Distress. Wiley Finance.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6032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[2] Altman, E.I. (1968). Financial Ratios, Discriminant Analysis and the Prediction 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1868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   Corporate Bankruptcy. Journal of Finance, 23(4), 589-609.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7705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[3] Breiman, L. (2001). Random Forests. Machine Learning, 45(1), 5-32.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3542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[4] Beaver, W.H. (1966). Financial Ratios as Predictors of Failure. Journal 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19379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   Accounting Research, 4, 71-111.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1687" y="1280160"/>
            <a:ext cx="3566160" cy="5257800"/>
          </a:xfrm>
          <a:prstGeom prst="rect">
            <a:avLst/>
          </a:prstGeom>
          <a:solidFill>
            <a:srgbClr val="1A1D2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7" y="13716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Date Oficiale Utilizate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8847" y="1792224"/>
            <a:ext cx="3291840" cy="1828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7" y="190195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[5] Ministerul Finantelor Publice — Situatii Financiare Anuale (2017, 2019, 2020, 2022, 2023)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7" y="256032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   https://data.gov.ro/dataset/situatii-financiare-anuale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7" y="321868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[6] ANAF — API public informatii contribuabili (webservicesp.anaf.ro)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7" y="387705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   https://webservicesp.anaf.ro/PlatitorTvaRest/api/v8/ws/tva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7" y="453542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[7] ONRC — Lista Firmelor Active din Romania (OD_FIRME.csv)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7" y="519379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   https://data.gov.ro/dataset/od-firme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66174" y="1280160"/>
            <a:ext cx="3566160" cy="5257800"/>
          </a:xfrm>
          <a:prstGeom prst="rect">
            <a:avLst/>
          </a:prstGeom>
          <a:solidFill>
            <a:srgbClr val="1A1D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3334" y="13716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Documentatie Tehnica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03334" y="1792224"/>
            <a:ext cx="329184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3334" y="190195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[8]  FastAPI — Modern, fast web framework for building APIs with Python 3.8+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3334" y="256032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   https://fastapi.tiangolo.com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3334" y="321868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[9]  Motor — Async Python driver for MongoDB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3334" y="387705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   https://motor.readthedocs.io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334" y="453542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[10] scikit-learn — Machine Learning in Python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3334" y="519379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   https://scikit-learn.org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3334" y="58521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[11] Plotly.js — Interactive Data Visualization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3334" y="651052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   https://plotly.com/javascript/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3334" y="716889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[12] MongoDB Documentation — Indexing Strategies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03334" y="782726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   https://www.mongodb.com/docs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105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8EF7"/>
                </a:solidFill>
              </a:rPr>
              <a:t>Cod sursa: github.com/SingGeon/BankruptIQ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