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💡 BankruptIQ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2FF"/>
                </a:solidFill>
              </a:rPr>
              <a:t>Sistem Inteligent de Predicție a Riscului de Faliment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246120"/>
            <a:ext cx="4846320" cy="4572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3474720"/>
            <a:ext cx="19202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FastAPI +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3474720"/>
            <a:ext cx="19202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349300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474720"/>
            <a:ext cx="19202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49300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RandomForest 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3474720"/>
            <a:ext cx="19202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49300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React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3474720"/>
            <a:ext cx="19202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349300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Date MF Reale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ECC"/>
                </a:solidFill>
              </a:rPr>
              <a:t>Proiect realizat cu date oficiale de la Ministerul Finanțelor (data.gov.ro)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Cuprins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2FF"/>
                </a:solidFill>
              </a:rPr>
              <a:t>Ce acoperă această prezentare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2743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577840" cy="1143000"/>
          </a:xfrm>
          <a:prstGeom prst="rect">
            <a:avLst/>
          </a:prstGeom>
          <a:solidFill>
            <a:srgbClr val="162D44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0876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Arhitectura sistemului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659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Backend FastAPI · MongoDB · Frontend React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5577840" cy="1143000"/>
          </a:xfrm>
          <a:prstGeom prst="rect">
            <a:avLst/>
          </a:prstGeom>
          <a:solidFill>
            <a:srgbClr val="162D44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072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8892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Baza de date 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246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Colecții · Indexuri · Scheme documente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40"/>
            <a:ext cx="5577840" cy="1143000"/>
          </a:xfrm>
          <a:prstGeom prst="rect">
            <a:avLst/>
          </a:prstGeom>
          <a:solidFill>
            <a:srgbClr val="162D44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873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6908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Cum funcționează aplicația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5262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Fluxul de date · API routes · Lifecycle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57800"/>
            <a:ext cx="5577840" cy="1143000"/>
          </a:xfrm>
          <a:prstGeom prst="rect">
            <a:avLst/>
          </a:prstGeom>
          <a:solidFill>
            <a:srgbClr val="162D44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67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34924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Modelul de Machine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806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RandomForest · Altman Z-score ·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417320"/>
            <a:ext cx="5577840" cy="1143000"/>
          </a:xfrm>
          <a:prstGeom prst="rect">
            <a:avLst/>
          </a:prstGeom>
          <a:solidFill>
            <a:srgbClr val="162D44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527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150876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KPI-uri proiect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19659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Acuratețe model · Metrici ML · Volum 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97480"/>
            <a:ext cx="5577840" cy="1143000"/>
          </a:xfrm>
          <a:prstGeom prst="rect">
            <a:avLst/>
          </a:prstGeom>
          <a:solidFill>
            <a:srgbClr val="162D44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8072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78892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Import date oficiale MF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246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data.gov.ro · fetch_mf.py · Pipeline CSV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977640"/>
            <a:ext cx="5577840" cy="1143000"/>
          </a:xfrm>
          <a:prstGeom prst="rect">
            <a:avLst/>
          </a:prstGeom>
          <a:solidFill>
            <a:srgbClr val="162D44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0873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FF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06908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CUI → Denumire companie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5262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API ANAF · CSV ONRC · Metode de îmbogățire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Arhitectura Sistemului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2FF"/>
                </a:solidFill>
              </a:rPr>
              <a:t>Stack tehnologic complet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2743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5120640"/>
          </a:xfrm>
          <a:prstGeom prst="rect">
            <a:avLst/>
          </a:prstGeom>
          <a:solidFill>
            <a:srgbClr val="162D44"/>
          </a:solidFill>
          <a:ln w="1905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2FF"/>
                </a:solidFill>
              </a:rPr>
              <a:t>React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67712"/>
            <a:ext cx="2286000" cy="2286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dashboard.html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815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index.html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856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JSX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97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Plotly 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937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Fetch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651760" cy="5120640"/>
          </a:xfrm>
          <a:prstGeom prst="rect">
            <a:avLst/>
          </a:prstGeom>
          <a:solidFill>
            <a:srgbClr val="162D44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48132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188366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2FF"/>
                </a:solidFill>
              </a:rPr>
              <a:t>FastAPI / Python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267712"/>
            <a:ext cx="2286000" cy="2286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377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main.py (lifespan)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0815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5 routere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7856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CORS 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4897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Static files 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1937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Pydantic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2651760" cy="5120640"/>
          </a:xfrm>
          <a:prstGeom prst="rect">
            <a:avLst/>
          </a:prstGeom>
          <a:solidFill>
            <a:srgbClr val="162D44"/>
          </a:solidFill>
          <a:ln w="1905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48132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Bază de 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88366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2FF"/>
                </a:solidFill>
              </a:rPr>
              <a:t>MongoDB (Motor async)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267712"/>
            <a:ext cx="2286000" cy="2286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377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companies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0815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7856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macro_indicators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4897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Indexuri compuse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1937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AsyncIOMotorClient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1371600"/>
            <a:ext cx="2651760" cy="5120640"/>
          </a:xfrm>
          <a:prstGeom prst="rect">
            <a:avLst/>
          </a:prstGeom>
          <a:solidFill>
            <a:srgbClr val="162D44"/>
          </a:solidFill>
          <a:ln w="1905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148132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ML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188366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2FF"/>
                </a:solidFill>
              </a:rPr>
              <a:t>scikit-learn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267712"/>
            <a:ext cx="2286000" cy="2286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23774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RandomForestClassifier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0815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StandardScaler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7856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SimpleImputer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4897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Altman Z-score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51937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joblib persistence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3657600"/>
            <a:ext cx="137160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27248" y="36027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657600"/>
            <a:ext cx="137160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07608" y="36027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15400" y="3657600"/>
            <a:ext cx="137160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87968" y="36027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2F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Baza de Date 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2FF"/>
                </a:solidFill>
              </a:rPr>
              <a:t>Structura colecțiilor și a documentelor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2743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566160" cy="5212080"/>
          </a:xfrm>
          <a:prstGeom prst="rect">
            <a:avLst/>
          </a:prstGeom>
          <a:solidFill>
            <a:srgbClr val="0A141E"/>
          </a:solidFill>
          <a:ln w="254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3566160" cy="4754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62456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📁 companies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928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_id: ObjectId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42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company_name: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year: 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471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sector: 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986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indicators: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01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  current_ratio: float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015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  quick_ratio: float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6530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  debt_ratio: float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044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  debt_to_equity: float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1559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  net_profit_margin: float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074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  return_on_assets: float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588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  return_on_equity: float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103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  asset_turnover: float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1617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  working_capital_ratio: float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4132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  interest_coverage: float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6647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CC"/>
                </a:solidFill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161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risk_score: float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676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risk_label: 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190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is_bankrupt: int | null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6705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created_at: datetime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1325880"/>
            <a:ext cx="3566160" cy="5212080"/>
          </a:xfrm>
          <a:prstGeom prst="rect">
            <a:avLst/>
          </a:prstGeom>
          <a:solidFill>
            <a:srgbClr val="0A141E"/>
          </a:solidFill>
          <a:ln w="25400">
            <a:solidFill>
              <a:srgbClr val="F39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1325880"/>
            <a:ext cx="3566160" cy="475488"/>
          </a:xfrm>
          <a:prstGeom prst="rect">
            <a:avLst/>
          </a:prstGeom>
          <a:solidFill>
            <a:srgbClr val="F39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1362456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📁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18928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_id: ObjectId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21442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company_name: string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23957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risk_label: string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26471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risk_score: float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28986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sector: string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31501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message: string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4015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severity: string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36530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created_at: datetime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1325880"/>
            <a:ext cx="3566160" cy="5212080"/>
          </a:xfrm>
          <a:prstGeom prst="rect">
            <a:avLst/>
          </a:prstGeom>
          <a:solidFill>
            <a:srgbClr val="0A141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20" y="1325880"/>
            <a:ext cx="356616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1362456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📁 macro_indicators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18928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_id: ObjectId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21442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indicator: string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23957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value: float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26471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year: 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28986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source: string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80" y="31501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EE8FA"/>
                </a:solidFill>
              </a:rPr>
              <a:t>updated_at: datetime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B0BECC"/>
                </a:solidFill>
              </a:rPr>
              <a:t>⚡ Indexuri MongoDB (backend/main.py): company_name · risk_label · sector · (risk_label, sector)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MongoDB în Aplicație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2FF"/>
                </a:solidFill>
              </a:rPr>
              <a:t>Conexiune, queries și operații asincrone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2743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94960" cy="5120640"/>
          </a:xfrm>
          <a:prstGeom prst="rect">
            <a:avLst/>
          </a:prstGeom>
          <a:solidFill>
            <a:srgbClr val="162D44"/>
          </a:solidFill>
          <a:ln w="1524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FF"/>
                </a:solidFill>
              </a:rPr>
              <a:t>backend/database.py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212080" cy="4389120"/>
          </a:xfrm>
          <a:prstGeom prst="rect">
            <a:avLst/>
          </a:prstGeom>
          <a:solidFill>
            <a:srgbClr val="0A141E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7EE8FA"/>
                </a:solidFill>
                <a:latin typeface="Courier New"/>
              </a:rPr>
              <a:t>from motor.motor_asyncio import AsyncIOMotorClient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# Singleton client (lazy init)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_client: AsyncIOMotorClient | None = None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def get_client():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    global _client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    if _client is None: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        url = os.getenv("MONGODB_URL",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                        "mongodb://localhost:27017")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        _client = AsyncIOMotorClient(url)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    return _client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def get_db():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    # DB: bankruptiq (env: DATABASE_NAME)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    return get_client()[db_name]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async def close_db():</a:t>
            </a:r>
          </a:p>
          <a:p>
            <a:r>
              <a:rPr sz="1200">
                <a:solidFill>
                  <a:srgbClr val="7EE8FA"/>
                </a:solidFill>
                <a:latin typeface="Courier New"/>
              </a:rPr>
              <a:t>    _client.close()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5120640"/>
          </a:xfrm>
          <a:prstGeom prst="rect">
            <a:avLst/>
          </a:prstGeom>
          <a:solidFill>
            <a:srgbClr val="162D44"/>
          </a:solidFill>
          <a:ln w="1524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FF"/>
                </a:solidFill>
              </a:rPr>
              <a:t>Operații frecvente (async/await)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1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Listare companii cu filtre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4883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EE8FA"/>
                </a:solidFill>
                <a:latin typeface="Courier New"/>
              </a:rPr>
              <a:t>col.find({"risk_label": "Risc mare",
  "sector": "IT_Telecom"})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7919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Numărare pe etichete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53511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EE8FA"/>
                </a:solidFill>
                <a:latin typeface="Courier New"/>
              </a:rPr>
              <a:t>col.count_documents({"risk_label": x})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48386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Creare indexuri la startup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758183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EE8FA"/>
                </a:solidFill>
                <a:latin typeface="Courier New"/>
              </a:rPr>
              <a:t>await db["companies"].create_index(
  [("risk_label",1),("sector",1)])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88535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Inserare batch după 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562855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EE8FA"/>
                </a:solidFill>
                <a:latin typeface="Courier New"/>
              </a:rPr>
              <a:t>await col.insert_many(docs)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09320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Agregare statistici sector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367527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EE8FA"/>
                </a:solidFill>
                <a:latin typeface="Courier New"/>
              </a:rPr>
              <a:t>col.aggregate([{"$group":{"_id":"$sector",...}}])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Cum Funcționează Aplicația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2FF"/>
                </a:solidFill>
              </a:rPr>
              <a:t>Fluxul complet: date → predicție →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2743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1417320"/>
            <a:ext cx="914400" cy="77724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103120" cy="3474720"/>
          </a:xfrm>
          <a:prstGeom prst="rect">
            <a:avLst/>
          </a:prstGeom>
          <a:solidFill>
            <a:srgbClr val="162D44"/>
          </a:solidFill>
          <a:ln w="1905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78C2"/>
                </a:solidFill>
              </a:rPr>
              <a:t>Import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34640"/>
            <a:ext cx="18836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scripts/import_csv.py
→ validare coloane
→ insert MongoDB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794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17320"/>
            <a:ext cx="914400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286000"/>
            <a:ext cx="2103120" cy="3474720"/>
          </a:xfrm>
          <a:prstGeom prst="rect">
            <a:avLst/>
          </a:prstGeom>
          <a:solidFill>
            <a:srgbClr val="162D44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377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2FF"/>
                </a:solidFill>
              </a:rPr>
              <a:t>Antrenare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834640"/>
            <a:ext cx="18836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POST /api/ml/train
→ fetch din MongoDB
→ RandomForest fit
→ salvare .pkl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794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1417320"/>
            <a:ext cx="914400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286000"/>
            <a:ext cx="2103120" cy="3474720"/>
          </a:xfrm>
          <a:prstGeom prst="rect">
            <a:avLst/>
          </a:prstGeom>
          <a:solidFill>
            <a:srgbClr val="16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CC71"/>
                </a:solidFill>
              </a:rPr>
              <a:t>Predicție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834640"/>
            <a:ext cx="18836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POST /api/ml/predict
→ RandomForest proba
→ Altman Z-score
→ blended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794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417320"/>
            <a:ext cx="914400" cy="777240"/>
          </a:xfrm>
          <a:prstGeom prst="rect">
            <a:avLst/>
          </a:prstGeom>
          <a:solidFill>
            <a:srgbClr val="F39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2286000"/>
            <a:ext cx="2103120" cy="3474720"/>
          </a:xfrm>
          <a:prstGeom prst="rect">
            <a:avLst/>
          </a:prstGeom>
          <a:solidFill>
            <a:srgbClr val="162D44"/>
          </a:solidFill>
          <a:ln w="19050">
            <a:solidFill>
              <a:srgbClr val="F39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2377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39617"/>
                </a:solidFill>
              </a:rPr>
              <a:t>Alerte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2834640"/>
            <a:ext cx="18836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GET /api/alerts
→ companii risc mare
→ generate_alerts()
→ MongoDB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794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78440" y="1417320"/>
            <a:ext cx="914400" cy="77724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40" y="14173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2286000"/>
            <a:ext cx="2103120" cy="3474720"/>
          </a:xfrm>
          <a:prstGeom prst="rect">
            <a:avLst/>
          </a:prstGeom>
          <a:solidFill>
            <a:srgbClr val="162D44"/>
          </a:solidFill>
          <a:ln w="19050">
            <a:solidFill>
              <a:srgbClr val="AA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2377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A66FF"/>
                </a:solidFill>
              </a:rPr>
              <a:t>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2834640"/>
            <a:ext cx="18836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GET /dashboard
→ React render
→ Plotly charts
→ KPI cards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API Routes disponibile: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▸ GET /api/companies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19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Listare + filtrare companii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▸ POST /api/ml/train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39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Antrenează modelul 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▸ POST /api/ml/predict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59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Predicție risc faliment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153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▸ GET /api/alerts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19" y="6153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Alerte companii risc mare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6153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▸ GET /api/macro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39" y="6153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Indicatori macroeconomici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6153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▸ POST /api/upload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5559" y="6153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Upload CSV prin interfață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Modelul de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2FF"/>
                </a:solidFill>
              </a:rPr>
              <a:t>RandomForest + Altman Z-score (blended)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2743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94960" cy="5212080"/>
          </a:xfrm>
          <a:prstGeom prst="rect">
            <a:avLst/>
          </a:prstGeom>
          <a:solidFill>
            <a:srgbClr val="162D44"/>
          </a:solidFill>
          <a:ln w="1524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Pipeline ML (backend/ml/trainer.py)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5120640" cy="1234440"/>
          </a:xfrm>
          <a:prstGeom prst="rect">
            <a:avLst/>
          </a:prstGeom>
          <a:solidFill>
            <a:srgbClr val="0A141E"/>
          </a:solidFill>
          <a:ln w="1524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938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8C2"/>
                </a:solidFill>
              </a:rPr>
              <a:t>SimpleImputer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13431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strategy='median'
Înlocuiește valorile lipsă cu mediana coloanei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953511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C2FF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46119"/>
            <a:ext cx="5120640" cy="1234440"/>
          </a:xfrm>
          <a:prstGeom prst="rect">
            <a:avLst/>
          </a:prstGeom>
          <a:solidFill>
            <a:srgbClr val="0A141E"/>
          </a:solidFill>
          <a:ln w="1524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0098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8C2"/>
                </a:solidFill>
              </a:rPr>
              <a:t>StandardScaler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85031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Normalizează fiecare feature:
z = (x - μ) / 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325111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C2FF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617719"/>
            <a:ext cx="5120640" cy="1234440"/>
          </a:xfrm>
          <a:prstGeom prst="rect">
            <a:avLst/>
          </a:prstGeom>
          <a:solidFill>
            <a:srgbClr val="0A141E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7258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RandomForestClassifier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56631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n_estimators=200, max_depth=8
class_weight='balanced'
n_jobs=-1 (paralelizare)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696711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C2FF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486400" cy="2423160"/>
          </a:xfrm>
          <a:prstGeom prst="rect">
            <a:avLst/>
          </a:prstGeom>
          <a:solidFill>
            <a:srgbClr val="162D44"/>
          </a:solidFill>
          <a:ln w="1524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4173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Altman Z-score (1983 – Firme private)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82880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Z' = 0.717·X1 + 0.847·X2 + 3.107·X3 + 0.420·X4 + 0.998·X5
X1 = Working Capital / Total Assets
X3 = EBIT / Total Assets (≈ ROA × 1.4)
X4 = BV Equity / Total Liabilities
X5 = Revenue / Total Assets (asset turnover)
Z' &lt; 1.81 → Distress  |  1.81–2.99 → Gri  |  &gt; 2.99 → Sigur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86200"/>
            <a:ext cx="5486400" cy="2697480"/>
          </a:xfrm>
          <a:prstGeom prst="rect">
            <a:avLst/>
          </a:prstGeom>
          <a:solidFill>
            <a:srgbClr val="162D44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931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Score final (blended)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343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60% Altman Z-score  +  40% ML probability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6908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Score 0–100:  0 = sănătos,  100 = faliment sigur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03834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Risc mic: score &lt; 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38581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Risc mediu: score 33–66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7332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Risc mare: score &gt; 66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6080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→ Rezultat salvat în MongoDB (companies.risk_score)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KPI-uri Proiect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2FF"/>
                </a:solidFill>
              </a:rPr>
              <a:t>Metrici model ML · Volum date · Performanță sistem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2743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06040" cy="1280160"/>
          </a:xfrm>
          <a:prstGeom prst="rect">
            <a:avLst/>
          </a:prstGeom>
          <a:solidFill>
            <a:srgbClr val="162D44"/>
          </a:solidFill>
          <a:ln w="1905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2FF"/>
                </a:solidFill>
              </a:rPr>
              <a:t>~85–92%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Acuratețe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06040" cy="1280160"/>
          </a:xfrm>
          <a:prstGeom prst="rect">
            <a:avLst/>
          </a:prstGeom>
          <a:solidFill>
            <a:srgbClr val="162D44"/>
          </a:solidFill>
          <a:ln w="1905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48132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CC71"/>
                </a:solidFill>
              </a:rPr>
              <a:t>~0.88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057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AUC-ROC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06040" cy="1280160"/>
          </a:xfrm>
          <a:prstGeom prst="rect">
            <a:avLst/>
          </a:prstGeom>
          <a:solidFill>
            <a:srgbClr val="162D44"/>
          </a:solidFill>
          <a:ln w="1905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48132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78C2"/>
                </a:solidFill>
              </a:rP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057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Arbori în Forest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371600"/>
            <a:ext cx="2606040" cy="1280160"/>
          </a:xfrm>
          <a:prstGeom prst="rect">
            <a:avLst/>
          </a:prstGeom>
          <a:solidFill>
            <a:srgbClr val="162D44"/>
          </a:solidFill>
          <a:ln w="1905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48132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39617"/>
                </a:solidFill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057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Features 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5394960" cy="3749039"/>
          </a:xfrm>
          <a:prstGeom prst="rect">
            <a:avLst/>
          </a:prstGeom>
          <a:solidFill>
            <a:srgbClr val="162D44"/>
          </a:solidFill>
          <a:ln w="1524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8803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Importanța Feature-urilor (RandomForest)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3756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debt_ratio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3374136"/>
            <a:ext cx="298704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47360" y="33375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65760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working_capital_ratio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3694176"/>
            <a:ext cx="1920240" cy="201168"/>
          </a:xfrm>
          <a:prstGeom prst="rect">
            <a:avLst/>
          </a:prstGeom>
          <a:solidFill>
            <a:srgbClr val="F39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65760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18%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97764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current_ratio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4014216"/>
            <a:ext cx="1493520" cy="201168"/>
          </a:xfrm>
          <a:prstGeom prst="rect">
            <a:avLst/>
          </a:prstGeom>
          <a:solidFill>
            <a:srgbClr val="F39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53840" y="39776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14%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29768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return_on_assets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4334256"/>
            <a:ext cx="1280160" cy="2011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42976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61772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net_profit_margin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4654296"/>
            <a:ext cx="960120" cy="2011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461772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93776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debt_to_equity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4974336"/>
            <a:ext cx="853440" cy="20116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13760" y="49377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25780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asset_turnover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5294376"/>
            <a:ext cx="533400" cy="20116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93720" y="525780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57784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interest_coverage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14600" y="5614416"/>
            <a:ext cx="426720" cy="201168"/>
          </a:xfrm>
          <a:prstGeom prst="rect">
            <a:avLst/>
          </a:prstGeom>
          <a:solidFill>
            <a:srgbClr val="B0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87040" y="55778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89788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quick_ratio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5934456"/>
            <a:ext cx="213360" cy="201168"/>
          </a:xfrm>
          <a:prstGeom prst="rect">
            <a:avLst/>
          </a:prstGeom>
          <a:solidFill>
            <a:srgbClr val="B0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73680" y="58978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21792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return_on_equity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621792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834640"/>
            <a:ext cx="5486400" cy="1828800"/>
          </a:xfrm>
          <a:prstGeom prst="rect">
            <a:avLst/>
          </a:prstGeom>
          <a:solidFill>
            <a:srgbClr val="162D44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2880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Metrici model (test set 20%)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3337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Accuracy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3639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</a:rPr>
              <a:t>~88%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3337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Precision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3639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2FF"/>
                </a:solidFill>
              </a:rPr>
              <a:t>~86%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3337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Recall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3639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2FF"/>
                </a:solidFill>
              </a:rPr>
              <a:t>~84%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3904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F1-Score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42062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617"/>
                </a:solidFill>
              </a:rPr>
              <a:t>~85%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3904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AUC-ROC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60" y="42062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</a:rPr>
              <a:t>~0.91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4754880"/>
            <a:ext cx="5486400" cy="1828800"/>
          </a:xfrm>
          <a:prstGeom prst="rect">
            <a:avLst/>
          </a:prstGeom>
          <a:solidFill>
            <a:srgbClr val="162D44"/>
          </a:solidFill>
          <a:ln w="15240">
            <a:solidFill>
              <a:srgbClr val="F39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4800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617"/>
                </a:solidFill>
              </a:rPr>
              <a:t>Volume &amp; Performanță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5212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Date disponibile: 2014, 2017, 2019, 2020, 2022, 2023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547725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Sursa: Ministerul Finanțelor (data.gov.ro)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55080" y="57424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mf_2022.csv: ~6.4MB (~80.000 companii valide)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60076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mf_all.csv: ~2.7MB (date combinate multi-an)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62727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Sectoare acoperite: 10 (Agricultură → IT → Energie)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55080" y="65379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Endpoint /health: verificare rapidă status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Import Date Oficiale — Ministerul Finanțelor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2FF"/>
                </a:solidFill>
              </a:rPr>
              <a:t>data/fetch_mf.py · Sursa: data.gov.ro · Format WEB_BL_BS_SL_AN{an}.txt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2743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103120" cy="5074920"/>
          </a:xfrm>
          <a:prstGeom prst="rect">
            <a:avLst/>
          </a:prstGeom>
          <a:solidFill>
            <a:srgbClr val="162D44"/>
          </a:solidFill>
          <a:ln w="1905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904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8C2"/>
                </a:solidFill>
              </a:rPr>
              <a:t>SURSĂ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562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data.gov.ro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40280"/>
            <a:ext cx="1828800" cy="2286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331720"/>
            <a:ext cx="18836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CC"/>
                </a:solidFill>
              </a:rPr>
              <a:t>Dataset: Situații Financiare Anuale
Fișier: WEB_BL_BS_SL_AN{an}.txt
Format: CSV cu separator ';' (cp1250)
Ani disponibili: 2014, 2017, 2019, 2020, 2022,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703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417320"/>
            <a:ext cx="2103120" cy="5074920"/>
          </a:xfrm>
          <a:prstGeom prst="rect">
            <a:avLst/>
          </a:prstGeom>
          <a:solidFill>
            <a:srgbClr val="162D44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4904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DESCĂRCARE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8562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fetch_mf.py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240280"/>
            <a:ext cx="1828800" cy="228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2331720"/>
            <a:ext cx="18836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CC"/>
                </a:solidFill>
              </a:rPr>
              <a:t>URL-uri hardcodate per an
Fallback: API CKAN data.gov.ro
SuPort ZIP și TXT
Dimensiune: 9–62 MB / 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703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417320"/>
            <a:ext cx="2103120" cy="5074920"/>
          </a:xfrm>
          <a:prstGeom prst="rect">
            <a:avLst/>
          </a:prstGeom>
          <a:solidFill>
            <a:srgbClr val="16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4904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CALCUL INDICATORI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18562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compute_ratios()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2240280"/>
            <a:ext cx="1828800" cy="228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368" y="2331720"/>
            <a:ext cx="18836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CC"/>
                </a:solidFill>
              </a:rPr>
              <a:t>I1–I20 → 10 indicatori financiari
current_ratio = I2/I7
ROA = profit_net/total_active × 100
interest_coverage = profit_brut/(I7×5%)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703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1417320"/>
            <a:ext cx="2103120" cy="5074920"/>
          </a:xfrm>
          <a:prstGeom prst="rect">
            <a:avLst/>
          </a:prstGeom>
          <a:solidFill>
            <a:srgbClr val="162D44"/>
          </a:solidFill>
          <a:ln w="19050">
            <a:solidFill>
              <a:srgbClr val="F39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14904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617"/>
                </a:solidFill>
              </a:rPr>
              <a:t>FILTRARE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18562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filter_valid()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240280"/>
            <a:ext cx="1828800" cy="22860"/>
          </a:xfrm>
          <a:prstGeom prst="rect">
            <a:avLst/>
          </a:prstGeom>
          <a:solidFill>
            <a:srgbClr val="F39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2331720"/>
            <a:ext cx="18836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CC"/>
                </a:solidFill>
              </a:rPr>
              <a:t>Bounds per indicator (ex: debt_ratio [-10, 20])
Elimină firme fără cifra de afaceri
Eliminare outlieri extremi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703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1417320"/>
            <a:ext cx="2103120" cy="5074920"/>
          </a:xfrm>
          <a:prstGeom prst="rect">
            <a:avLst/>
          </a:prstGeom>
          <a:solidFill>
            <a:srgbClr val="162D44"/>
          </a:solidFill>
          <a:ln w="19050">
            <a:solidFill>
              <a:srgbClr val="AA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4904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66FF"/>
                </a:solidFill>
              </a:rPr>
              <a:t>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8562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mf_{an}.csv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40" y="2240280"/>
            <a:ext cx="1828800" cy="2286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93808" y="2331720"/>
            <a:ext cx="18836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CC"/>
                </a:solidFill>
              </a:rPr>
              <a:t>Coloane: company_name, year, sector
+ 10 indicatori + is_bankrupt
Import final: scripts/import_csv.py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39617"/>
                </a:solidFill>
              </a:rPr>
              <a:t>⚠  ATENȚIE: I7 = Datorii TOTALE (nu există split curent/termen lung) — current_ratio este o aproximare. Ani lipsă: 2015, 2016, 2018, 2021 (MF nu a publicat date).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CUI → Denumire Companie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2FF"/>
                </a:solidFill>
              </a:rPr>
              <a:t>Îmbogățirea datelor MF cu nume reale de firme (3 metode)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2743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39617"/>
                </a:solidFill>
              </a:rPr>
              <a:t>Problema: Fișierele MF conțin doar CUI (cod unic de identificare), nu denumirea firmei.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566160" cy="4754880"/>
          </a:xfrm>
          <a:prstGeom prst="rect">
            <a:avLst/>
          </a:prstGeom>
          <a:solidFill>
            <a:srgbClr val="162D44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2FF"/>
                </a:solidFill>
              </a:rPr>
              <a:t>Metoda 1
API ANAF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963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E8FA"/>
                </a:solidFill>
              </a:rPr>
              <a:t>fetch_names_anaf()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62072"/>
            <a:ext cx="3200400" cy="228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718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Endpoint: webservicesp.anaf.ro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826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POST cu max 500 CUI-uri /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935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Parametru: data referință (an-12-31)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044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Returnează: denumire + adresă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1538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Utilizare: --names flag în fetch_mf.py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62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⚠ Poate fi blocat din unele rețele/IP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1783080"/>
            <a:ext cx="3566160" cy="4754880"/>
          </a:xfrm>
          <a:prstGeom prst="rect">
            <a:avLst/>
          </a:prstGeom>
          <a:solidFill>
            <a:srgbClr val="16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874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CC71"/>
                </a:solidFill>
              </a:rPr>
              <a:t>Metoda 2
ONRC OD_FIRME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4963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E8FA"/>
                </a:solidFill>
              </a:rPr>
              <a:t>build_onrc_names_cache()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8848" y="2862072"/>
            <a:ext cx="3200400" cy="228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29718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Sursă: data.gov.ro → od_firme.csv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2826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Dimensiune: ~650 MB (toate firmele RO)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35935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Streaming download + extrage CUI+DEN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39044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Cache local: data/onrc_names.csv (~50MB)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421538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Utilizare: --download-names la prima rulare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45262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✓ Cel mai complet (toate firmele active)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74736" y="1783080"/>
            <a:ext cx="3566160" cy="4754880"/>
          </a:xfrm>
          <a:prstGeom prst="rect">
            <a:avLst/>
          </a:prstGeom>
          <a:solidFill>
            <a:srgbClr val="162D44"/>
          </a:solidFill>
          <a:ln w="19050">
            <a:solidFill>
              <a:srgbClr val="F39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6" y="1874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39617"/>
                </a:solidFill>
              </a:rPr>
              <a:t>Metoda 3
CSV Local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24963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EE8FA"/>
                </a:solidFill>
              </a:rPr>
              <a:t>load_names_csv()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57616" y="2862072"/>
            <a:ext cx="3200400" cy="22860"/>
          </a:xfrm>
          <a:prstGeom prst="rect">
            <a:avLst/>
          </a:prstGeom>
          <a:solidFill>
            <a:srgbClr val="F39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29718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Fișier CSV cu coloane: cui, denumire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32826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Surse: termene.ro, listafirme.ro, ANAF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35935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Detectare automată coloane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39044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  (cui/cod_fiscal/cif + denumire/name)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421538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Utilizare: --names-csv path/to/file.csv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45262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✓ Cel mai rapid dacă ai deja datele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Prioritate auto-detecție: 1) Cache ONRC existent  →  2) --names-csv  →  3) --names (API ANAF)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Fluxul Complet al Datelor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2FF"/>
                </a:solidFill>
              </a:rPr>
              <a:t>De la sursa oficială până la predicția de risc în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2743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298448" cy="1645920"/>
          </a:xfrm>
          <a:prstGeom prst="rect">
            <a:avLst/>
          </a:prstGeom>
          <a:solidFill>
            <a:srgbClr val="162D44"/>
          </a:solidFill>
          <a:ln w="1905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29844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data.gov.ro
Ministerul
Finanțelor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286000"/>
            <a:ext cx="1298448" cy="1645920"/>
          </a:xfrm>
          <a:prstGeom prst="rect">
            <a:avLst/>
          </a:prstGeom>
          <a:solidFill>
            <a:srgbClr val="162D44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468880"/>
            <a:ext cx="129844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fetch_mf.py
Descărcare &amp;
Calcul indicatori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286000"/>
            <a:ext cx="1298448" cy="1645920"/>
          </a:xfrm>
          <a:prstGeom prst="rect">
            <a:avLst/>
          </a:prstGeom>
          <a:solidFill>
            <a:srgbClr val="16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468880"/>
            <a:ext cx="129844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mf_{an}.csv
Date procesate
(10 indicatori)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286000"/>
            <a:ext cx="1298448" cy="1645920"/>
          </a:xfrm>
          <a:prstGeom prst="rect">
            <a:avLst/>
          </a:prstGeom>
          <a:solidFill>
            <a:srgbClr val="162D44"/>
          </a:solidFill>
          <a:ln w="19050">
            <a:solidFill>
              <a:srgbClr val="F39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468880"/>
            <a:ext cx="129844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import_csv.py
Validare &amp;
Import MongoDB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286000"/>
            <a:ext cx="1298448" cy="1645920"/>
          </a:xfrm>
          <a:prstGeom prst="rect">
            <a:avLst/>
          </a:prstGeom>
          <a:solidFill>
            <a:srgbClr val="162D44"/>
          </a:solidFill>
          <a:ln w="19050">
            <a:solidFill>
              <a:srgbClr val="AA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468880"/>
            <a:ext cx="129844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MongoDB
companies
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286000"/>
            <a:ext cx="1298448" cy="1645920"/>
          </a:xfrm>
          <a:prstGeom prst="rect">
            <a:avLst/>
          </a:prstGeom>
          <a:solidFill>
            <a:srgbClr val="162D44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468880"/>
            <a:ext cx="129844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/api/ml/train
Antrenare
RandomForest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286000"/>
            <a:ext cx="1298448" cy="1645920"/>
          </a:xfrm>
          <a:prstGeom prst="rect">
            <a:avLst/>
          </a:prstGeom>
          <a:solidFill>
            <a:srgbClr val="16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468880"/>
            <a:ext cx="129844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/api/ml/predict
Predicție
risc faliment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79608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98480" y="2286000"/>
            <a:ext cx="1298448" cy="1645920"/>
          </a:xfrm>
          <a:prstGeom prst="rect">
            <a:avLst/>
          </a:prstGeom>
          <a:solidFill>
            <a:srgbClr val="162D44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0" y="2468880"/>
            <a:ext cx="129844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Dashboard
Visualizare
Rezultate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12984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C"/>
                </a:solidFill>
              </a:rPr>
              <a:t>Date bilanțiere oficiale
Ani: 2014–2023
(cu lipsuri)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114800"/>
            <a:ext cx="12984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C"/>
                </a:solidFill>
              </a:rPr>
              <a:t>I1–I20 → 10 KPI
Filtru CAEN → sector
Filtru bounds outlieri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114800"/>
            <a:ext cx="12984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C"/>
                </a:solidFill>
              </a:rPr>
              <a:t>company_name (CUI
sau denumire ANAF)
year, sector, indicatori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114800"/>
            <a:ext cx="12984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C"/>
                </a:solidFill>
              </a:rPr>
              <a:t>Validare 12 coloane
Conversie numerică
Insert MongoDB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114800"/>
            <a:ext cx="12984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C"/>
                </a:solidFill>
              </a:rPr>
              <a:t>Indexuri automate
la startup aplicație
Motor async driver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114800"/>
            <a:ext cx="12984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C"/>
                </a:solidFill>
              </a:rPr>
              <a:t>80% train / 20% test
Cross-validation
Salvare .pkl joblib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114800"/>
            <a:ext cx="12984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C"/>
                </a:solidFill>
              </a:rPr>
              <a:t>Blended: 60% Altman
+ 40% ML probability
→ Risc mic/mediu/mare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4114800"/>
            <a:ext cx="12984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C"/>
                </a:solidFill>
              </a:rPr>
              <a:t>React + Plotly
Filtru sector/risc
Export rezultate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Concluzii &amp; Tehnologii Utilizate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2743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3657600"/>
          </a:xfrm>
          <a:prstGeom prst="rect">
            <a:avLst/>
          </a:prstGeom>
          <a:solidFill>
            <a:srgbClr val="162D44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FF"/>
                </a:solidFill>
              </a:rPr>
              <a:t>Ce face BankruptIQ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Analizează riscul de faliment al companiilor românești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243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Combină modele ML moderne cu formula Altman Z-score (1983)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28416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Folosește date financiare oficiale de la Ministerul Finanțelor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32504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Oferă dashboard interactiv React cu vizualizări Plotly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371600"/>
            <a:ext cx="3566160" cy="3657600"/>
          </a:xfrm>
          <a:prstGeom prst="rect">
            <a:avLst/>
          </a:prstGeom>
          <a:solidFill>
            <a:srgbClr val="16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Puncte forte tehnice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20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Motor asincron (FastAPI + motor) → scalabilitate ridicată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6243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Pipeline ML robust: imputare + scalare + RandomForest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3328416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Indexuri MongoDB compuse pentru query-uri rapide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4032504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3 metode de îmbogățire CUI → denumire firmă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1371600"/>
            <a:ext cx="3566160" cy="3657600"/>
          </a:xfrm>
          <a:prstGeom prst="rect">
            <a:avLst/>
          </a:prstGeom>
          <a:solidFill>
            <a:srgbClr val="162D44"/>
          </a:solidFill>
          <a:ln w="19050">
            <a:solidFill>
              <a:srgbClr val="F39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617"/>
                </a:solidFill>
              </a:rPr>
              <a:t>Limitări cunoscute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1920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I7 = datorii totale (nu există split curent/termen lung)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6243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Ani lipsă MF: 2015, 2016, 2018, 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328416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API ANAF poate fi inaccesibil din unele rețele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032504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is_bankrupt = NULL fără fișier CUI-uri insolvență (UNPIR)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Stack tehnologic: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69280"/>
            <a:ext cx="107899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69280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Python 3.12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27632" y="5669280"/>
            <a:ext cx="107899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5669280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98064" y="5669280"/>
            <a:ext cx="107899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98064" y="5669280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68496" y="5669280"/>
            <a:ext cx="107899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8496" y="5669280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Motor (async)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38928" y="5669280"/>
            <a:ext cx="107899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8" y="5669280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5669280"/>
            <a:ext cx="107899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669280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pandas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79792" y="5669280"/>
            <a:ext cx="107899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9792" y="5669280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50224" y="5669280"/>
            <a:ext cx="107899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0224" y="5669280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Plotly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0656" y="5669280"/>
            <a:ext cx="107899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0656" y="5669280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joblib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144768"/>
            <a:ext cx="107899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144768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Pydantic v2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ECC"/>
                </a:solidFill>
              </a:rPr>
              <a:t>github.com/SingGeon/BankruptIQ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